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" charset="1" panose="020F0502020204030204"/>
      <p:regular r:id="rId19"/>
    </p:embeddedFon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Arimo Bold" charset="1" panose="020B0704020202020204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jpeg" Type="http://schemas.openxmlformats.org/officeDocument/2006/relationships/image"/><Relationship Id="rId4" Target="https://drive.google.com/file/d/1ic8DEOR_zEq-BlWinu9QtiAzFPPebEaj/view?usp=drivesdk" TargetMode="External" Type="http://schemas.openxmlformats.org/officeDocument/2006/relationships/hyperlink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1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1680" y="-30175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D2E46">
                <a:alpha val="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497580"/>
            <a:ext cx="15773400" cy="685800"/>
            <a:chOff x="0" y="0"/>
            <a:chExt cx="210312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844" r="0" b="-39784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469005"/>
            <a:ext cx="15773400" cy="714375"/>
            <a:chOff x="0" y="0"/>
            <a:chExt cx="21031200" cy="95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952500"/>
            </a:xfrm>
            <a:custGeom>
              <a:avLst/>
              <a:gdLst/>
              <a:ahLst/>
              <a:cxnLst/>
              <a:rect r="r" b="b" t="t" l="l"/>
              <a:pathLst>
                <a:path h="9525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9930" r="0" b="-3799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40430"/>
            <a:ext cx="15773400" cy="742950"/>
            <a:chOff x="0" y="0"/>
            <a:chExt cx="21031200" cy="990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990600"/>
            </a:xfrm>
            <a:custGeom>
              <a:avLst/>
              <a:gdLst/>
              <a:ahLst/>
              <a:cxnLst/>
              <a:rect r="r" b="b" t="t" l="l"/>
              <a:pathLst>
                <a:path h="9906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3394" r="0" b="-36339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411855"/>
            <a:ext cx="15773400" cy="771525"/>
            <a:chOff x="0" y="0"/>
            <a:chExt cx="21031200" cy="1028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031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ECE2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COSMETICS TRENDS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046220"/>
            <a:ext cx="15773400" cy="1783080"/>
            <a:chOff x="0" y="0"/>
            <a:chExt cx="210312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4031933"/>
            <a:ext cx="15773400" cy="1797367"/>
            <a:chOff x="0" y="0"/>
            <a:chExt cx="21031200" cy="23964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2396490"/>
            </a:xfrm>
            <a:custGeom>
              <a:avLst/>
              <a:gdLst/>
              <a:ahLst/>
              <a:cxnLst/>
              <a:rect r="r" b="b" t="t" l="l"/>
              <a:pathLst>
                <a:path h="239649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96490"/>
                  </a:lnTo>
                  <a:lnTo>
                    <a:pt x="0" y="2396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878" r="0" b="-12087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5860" y="4017645"/>
            <a:ext cx="15773400" cy="1811655"/>
            <a:chOff x="0" y="0"/>
            <a:chExt cx="21031200" cy="24155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2415540"/>
            </a:xfrm>
            <a:custGeom>
              <a:avLst/>
              <a:gdLst/>
              <a:ahLst/>
              <a:cxnLst/>
              <a:rect r="r" b="b" t="t" l="l"/>
              <a:pathLst>
                <a:path h="24155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415540"/>
                  </a:lnTo>
                  <a:lnTo>
                    <a:pt x="0" y="24155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531" r="0" b="-11953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" y="4003358"/>
            <a:ext cx="15773400" cy="1825942"/>
            <a:chOff x="0" y="0"/>
            <a:chExt cx="21031200" cy="24345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0" cy="2434590"/>
            </a:xfrm>
            <a:custGeom>
              <a:avLst/>
              <a:gdLst/>
              <a:ahLst/>
              <a:cxnLst/>
              <a:rect r="r" b="b" t="t" l="l"/>
              <a:pathLst>
                <a:path h="243459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434590"/>
                  </a:lnTo>
                  <a:lnTo>
                    <a:pt x="0" y="24345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8321" r="0" b="-1183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03120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&amp; Consumer Insights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5692140"/>
            <a:ext cx="12344400" cy="822960"/>
            <a:chOff x="0" y="0"/>
            <a:chExt cx="164592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1" r="0" b="-24207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440" y="5649278"/>
            <a:ext cx="12344400" cy="865823"/>
            <a:chOff x="0" y="0"/>
            <a:chExt cx="16459200" cy="11544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612" r="0" b="-22761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5606415"/>
            <a:ext cx="12344400" cy="908685"/>
            <a:chOff x="0" y="0"/>
            <a:chExt cx="16459200" cy="12115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00" cy="1211580"/>
            </a:xfrm>
            <a:custGeom>
              <a:avLst/>
              <a:gdLst/>
              <a:ahLst/>
              <a:cxnLst/>
              <a:rect r="r" b="b" t="t" l="l"/>
              <a:pathLst>
                <a:path h="12115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11580"/>
                  </a:lnTo>
                  <a:lnTo>
                    <a:pt x="0" y="12115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517" r="0" b="-21451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5563553"/>
            <a:ext cx="12344400" cy="951548"/>
            <a:chOff x="0" y="0"/>
            <a:chExt cx="16459200" cy="12687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0" cy="1268730"/>
            </a:xfrm>
            <a:custGeom>
              <a:avLst/>
              <a:gdLst/>
              <a:ahLst/>
              <a:cxnLst/>
              <a:rect r="r" b="b" t="t" l="l"/>
              <a:pathLst>
                <a:path h="126873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68730"/>
                  </a:lnTo>
                  <a:lnTo>
                    <a:pt x="0" y="12687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2778" r="0" b="-2027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6459200" cy="1325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CE2D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data-driven look at pricing, ratings, brand performance, and consumer skin-type preferences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9258300"/>
            <a:ext cx="12344400" cy="548640"/>
            <a:chOff x="0" y="0"/>
            <a:chExt cx="164592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107" r="0" b="-38810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9236869"/>
            <a:ext cx="12344400" cy="570071"/>
            <a:chOff x="0" y="0"/>
            <a:chExt cx="16459200" cy="7600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9200" cy="760095"/>
            </a:xfrm>
            <a:custGeom>
              <a:avLst/>
              <a:gdLst/>
              <a:ahLst/>
              <a:cxnLst/>
              <a:rect r="r" b="b" t="t" l="l"/>
              <a:pathLst>
                <a:path h="760095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1637" r="0" b="-37163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4440" y="9215438"/>
            <a:ext cx="12344400" cy="591502"/>
            <a:chOff x="0" y="0"/>
            <a:chExt cx="16459200" cy="7886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0" cy="788670"/>
            </a:xfrm>
            <a:custGeom>
              <a:avLst/>
              <a:gdLst/>
              <a:ahLst/>
              <a:cxnLst/>
              <a:rect r="r" b="b" t="t" l="l"/>
              <a:pathLst>
                <a:path h="78867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88670"/>
                  </a:lnTo>
                  <a:lnTo>
                    <a:pt x="0" y="7886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362" r="0" b="-35636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9194006"/>
            <a:ext cx="12344400" cy="612934"/>
            <a:chOff x="0" y="0"/>
            <a:chExt cx="16459200" cy="8172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0" cy="817244"/>
            </a:xfrm>
            <a:custGeom>
              <a:avLst/>
              <a:gdLst/>
              <a:ahLst/>
              <a:cxnLst/>
              <a:rect r="r" b="b" t="t" l="l"/>
              <a:pathLst>
                <a:path h="81724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17244"/>
                  </a:lnTo>
                  <a:lnTo>
                    <a:pt x="0" y="8172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2426" r="0" b="-34242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6459200" cy="84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from Tableau · Cosmetics Sales &amp; Consumer Insights Dashboard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33966" y="7425452"/>
            <a:ext cx="4105370" cy="1811369"/>
            <a:chOff x="0" y="0"/>
            <a:chExt cx="5473827" cy="24151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73827" cy="2415159"/>
            </a:xfrm>
            <a:custGeom>
              <a:avLst/>
              <a:gdLst/>
              <a:ahLst/>
              <a:cxnLst/>
              <a:rect r="r" b="b" t="t" l="l"/>
              <a:pathLst>
                <a:path h="2415159" w="5473827">
                  <a:moveTo>
                    <a:pt x="0" y="0"/>
                  </a:moveTo>
                  <a:lnTo>
                    <a:pt x="5473827" y="0"/>
                  </a:lnTo>
                  <a:lnTo>
                    <a:pt x="5473827" y="2415159"/>
                  </a:lnTo>
                  <a:lnTo>
                    <a:pt x="0" y="2415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80" t="0" r="-68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28700" y="6739652"/>
            <a:ext cx="952496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 spc="7">
                <a:solidFill>
                  <a:srgbClr val="C97B84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77422" y="7349252"/>
            <a:ext cx="2980744" cy="71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3600">
                <a:solidFill>
                  <a:srgbClr val="E0E5EC"/>
                </a:solidFill>
                <a:latin typeface="Inter"/>
                <a:ea typeface="Inter"/>
                <a:cs typeface="Inter"/>
                <a:sym typeface="Inter"/>
              </a:rPr>
              <a:t>Ghanesh saini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77422" y="7921533"/>
            <a:ext cx="2635253" cy="73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3936">
                <a:solidFill>
                  <a:srgbClr val="E0E5EC"/>
                </a:solidFill>
                <a:latin typeface="Inter"/>
                <a:ea typeface="Inter"/>
                <a:cs typeface="Inter"/>
                <a:sym typeface="Inter"/>
              </a:rPr>
              <a:t>Vidhi gupta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004291" y="-37233"/>
            <a:ext cx="6320980" cy="4316063"/>
            <a:chOff x="0" y="0"/>
            <a:chExt cx="8427974" cy="57547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27974" cy="5754751"/>
            </a:xfrm>
            <a:custGeom>
              <a:avLst/>
              <a:gdLst/>
              <a:ahLst/>
              <a:cxnLst/>
              <a:rect r="r" b="b" t="t" l="l"/>
              <a:pathLst>
                <a:path h="5754751" w="8427974">
                  <a:moveTo>
                    <a:pt x="0" y="0"/>
                  </a:moveTo>
                  <a:lnTo>
                    <a:pt x="8427974" y="0"/>
                  </a:lnTo>
                  <a:lnTo>
                    <a:pt x="8427974" y="5754751"/>
                  </a:lnTo>
                  <a:lnTo>
                    <a:pt x="0" y="575475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54864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2517364" y="2296420"/>
            <a:ext cx="6476981" cy="57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2799" b="true">
                <a:solidFill>
                  <a:srgbClr val="E0E5EC"/>
                </a:solidFill>
                <a:latin typeface="Inter Bold"/>
                <a:ea typeface="Inter Bold"/>
                <a:cs typeface="Inter Bold"/>
                <a:sym typeface="Inter Bold"/>
              </a:rPr>
              <a:t>NASSCOM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17364" y="1810064"/>
            <a:ext cx="6476981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PROGRAM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960120"/>
            <a:chOff x="0" y="0"/>
            <a:chExt cx="182880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63" r="0" b="-2281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1496"/>
            <a:ext cx="13716000" cy="967264"/>
            <a:chOff x="0" y="0"/>
            <a:chExt cx="18288000" cy="1289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289685"/>
            </a:xfrm>
            <a:custGeom>
              <a:avLst/>
              <a:gdLst/>
              <a:ahLst/>
              <a:cxnLst/>
              <a:rect r="r" b="b" t="t" l="l"/>
              <a:pathLst>
                <a:path h="128968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109" r="0" b="-22611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534352"/>
            <a:ext cx="13716000" cy="974407"/>
            <a:chOff x="0" y="0"/>
            <a:chExt cx="18288000" cy="129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085" r="0" b="-22408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527209"/>
            <a:ext cx="13716000" cy="981551"/>
            <a:chOff x="0" y="0"/>
            <a:chExt cx="18288000" cy="13087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1308734"/>
            </a:xfrm>
            <a:custGeom>
              <a:avLst/>
              <a:gdLst/>
              <a:ahLst/>
              <a:cxnLst/>
              <a:rect r="r" b="b" t="t" l="l"/>
              <a:pathLst>
                <a:path h="130873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2280" r="0" b="-2222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82880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3E1A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Overview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440180"/>
            <a:ext cx="15087600" cy="548640"/>
            <a:chOff x="0" y="0"/>
            <a:chExt cx="20116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465" r="0" b="-48546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404461"/>
            <a:ext cx="15087600" cy="584359"/>
            <a:chOff x="0" y="0"/>
            <a:chExt cx="20116800" cy="7791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779145"/>
            </a:xfrm>
            <a:custGeom>
              <a:avLst/>
              <a:gdLst/>
              <a:ahLst/>
              <a:cxnLst/>
              <a:rect r="r" b="b" t="t" l="l"/>
              <a:pathLst>
                <a:path h="779145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2735" r="0" b="-45273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368742"/>
            <a:ext cx="15087600" cy="620078"/>
            <a:chOff x="0" y="0"/>
            <a:chExt cx="20116800" cy="826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0" cy="826770"/>
            </a:xfrm>
            <a:custGeom>
              <a:avLst/>
              <a:gdLst/>
              <a:ahLst/>
              <a:cxnLst/>
              <a:rect r="r" b="b" t="t" l="l"/>
              <a:pathLst>
                <a:path h="82677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26770"/>
                  </a:lnTo>
                  <a:lnTo>
                    <a:pt x="0" y="826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3775" r="0" b="-42377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333024"/>
            <a:ext cx="15087600" cy="655796"/>
            <a:chOff x="0" y="0"/>
            <a:chExt cx="20116800" cy="8743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16800" cy="874396"/>
            </a:xfrm>
            <a:custGeom>
              <a:avLst/>
              <a:gdLst/>
              <a:ahLst/>
              <a:cxnLst/>
              <a:rect r="r" b="b" t="t" l="l"/>
              <a:pathLst>
                <a:path h="87439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874396"/>
                  </a:lnTo>
                  <a:lnTo>
                    <a:pt x="0" y="8743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8282" r="0" b="-3982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116800" cy="922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Brands, categories, pricing and ratings across the full cosmetics catalog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2400300"/>
            <a:ext cx="3909060" cy="2606040"/>
            <a:chOff x="0" y="0"/>
            <a:chExt cx="5212080" cy="3474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3291840"/>
                  </a:lnTo>
                  <a:cubicBezTo>
                    <a:pt x="5212080" y="3392805"/>
                    <a:pt x="5130165" y="3474720"/>
                    <a:pt x="5029200" y="3474720"/>
                  </a:cubicBezTo>
                  <a:lnTo>
                    <a:pt x="182880" y="3474720"/>
                  </a:lnTo>
                  <a:cubicBezTo>
                    <a:pt x="81915" y="3474720"/>
                    <a:pt x="0" y="3392805"/>
                    <a:pt x="0" y="329184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2880360"/>
            <a:ext cx="3909060" cy="1097280"/>
            <a:chOff x="0" y="0"/>
            <a:chExt cx="521208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7" r="0" b="-1936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2866072"/>
            <a:ext cx="3909060" cy="1111568"/>
            <a:chOff x="0" y="0"/>
            <a:chExt cx="5212080" cy="14820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1482090"/>
            </a:xfrm>
            <a:custGeom>
              <a:avLst/>
              <a:gdLst/>
              <a:ahLst/>
              <a:cxnLst/>
              <a:rect r="r" b="b" t="t" l="l"/>
              <a:pathLst>
                <a:path h="14820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75" r="0" b="-1847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2851785"/>
            <a:ext cx="3909060" cy="1125855"/>
            <a:chOff x="0" y="0"/>
            <a:chExt cx="5212080" cy="1501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06" r="0" b="-1760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2837498"/>
            <a:ext cx="3909060" cy="1140142"/>
            <a:chOff x="0" y="0"/>
            <a:chExt cx="5212080" cy="15201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2080" cy="1520190"/>
            </a:xfrm>
            <a:custGeom>
              <a:avLst/>
              <a:gdLst/>
              <a:ahLst/>
              <a:cxnLst/>
              <a:rect r="r" b="b" t="t" l="l"/>
              <a:pathLst>
                <a:path h="15201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2120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4046220"/>
            <a:ext cx="3909060" cy="548640"/>
            <a:chOff x="0" y="0"/>
            <a:chExt cx="52120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4017645"/>
            <a:ext cx="3909060" cy="577215"/>
            <a:chOff x="0" y="0"/>
            <a:chExt cx="5212080" cy="769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12080" cy="769620"/>
            </a:xfrm>
            <a:custGeom>
              <a:avLst/>
              <a:gdLst/>
              <a:ahLst/>
              <a:cxnLst/>
              <a:rect r="r" b="b" t="t" l="l"/>
              <a:pathLst>
                <a:path h="7696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866" r="0" b="-8186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3989070"/>
            <a:ext cx="3909060" cy="605790"/>
            <a:chOff x="0" y="0"/>
            <a:chExt cx="5212080" cy="807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2080" cy="807720"/>
            </a:xfrm>
            <a:custGeom>
              <a:avLst/>
              <a:gdLst/>
              <a:ahLst/>
              <a:cxnLst/>
              <a:rect r="r" b="b" t="t" l="l"/>
              <a:pathLst>
                <a:path h="807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646" r="0" b="-7564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3960495"/>
            <a:ext cx="3909060" cy="634365"/>
            <a:chOff x="0" y="0"/>
            <a:chExt cx="5212080" cy="8458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2080" cy="845820"/>
            </a:xfrm>
            <a:custGeom>
              <a:avLst/>
              <a:gdLst/>
              <a:ahLst/>
              <a:cxnLst/>
              <a:rect r="r" b="b" t="t" l="l"/>
              <a:pathLst>
                <a:path h="8458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69" r="0" b="-700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1208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48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PRODUCTS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143500" y="2400300"/>
            <a:ext cx="3909060" cy="2606040"/>
            <a:chOff x="0" y="0"/>
            <a:chExt cx="5212080" cy="3474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3291840"/>
                  </a:lnTo>
                  <a:cubicBezTo>
                    <a:pt x="5212080" y="3392805"/>
                    <a:pt x="5130165" y="3474720"/>
                    <a:pt x="5029200" y="3474720"/>
                  </a:cubicBezTo>
                  <a:lnTo>
                    <a:pt x="182880" y="3474720"/>
                  </a:lnTo>
                  <a:cubicBezTo>
                    <a:pt x="81915" y="3474720"/>
                    <a:pt x="0" y="3392805"/>
                    <a:pt x="0" y="329184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143500" y="2880360"/>
            <a:ext cx="3909060" cy="1097280"/>
            <a:chOff x="0" y="0"/>
            <a:chExt cx="521208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1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7" r="0" b="-19367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143500" y="2866072"/>
            <a:ext cx="3909060" cy="1111568"/>
            <a:chOff x="0" y="0"/>
            <a:chExt cx="5212080" cy="14820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12080" cy="1482090"/>
            </a:xfrm>
            <a:custGeom>
              <a:avLst/>
              <a:gdLst/>
              <a:ahLst/>
              <a:cxnLst/>
              <a:rect r="r" b="b" t="t" l="l"/>
              <a:pathLst>
                <a:path h="14820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75" r="0" b="-1847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143500" y="2851785"/>
            <a:ext cx="3909060" cy="1125855"/>
            <a:chOff x="0" y="0"/>
            <a:chExt cx="5212080" cy="15011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120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06" r="0" b="-1760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143500" y="2837498"/>
            <a:ext cx="3909060" cy="1140142"/>
            <a:chOff x="0" y="0"/>
            <a:chExt cx="5212080" cy="15201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2080" cy="1520190"/>
            </a:xfrm>
            <a:custGeom>
              <a:avLst/>
              <a:gdLst/>
              <a:ahLst/>
              <a:cxnLst/>
              <a:rect r="r" b="b" t="t" l="l"/>
              <a:pathLst>
                <a:path h="15201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2120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₹564.0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143500" y="4046220"/>
            <a:ext cx="3909060" cy="548640"/>
            <a:chOff x="0" y="0"/>
            <a:chExt cx="52120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143500" y="4017645"/>
            <a:ext cx="3909060" cy="577215"/>
            <a:chOff x="0" y="0"/>
            <a:chExt cx="5212080" cy="7696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12080" cy="769620"/>
            </a:xfrm>
            <a:custGeom>
              <a:avLst/>
              <a:gdLst/>
              <a:ahLst/>
              <a:cxnLst/>
              <a:rect r="r" b="b" t="t" l="l"/>
              <a:pathLst>
                <a:path h="7696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866" r="0" b="-81866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143500" y="3989070"/>
            <a:ext cx="3909060" cy="605790"/>
            <a:chOff x="0" y="0"/>
            <a:chExt cx="5212080" cy="807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2080" cy="807720"/>
            </a:xfrm>
            <a:custGeom>
              <a:avLst/>
              <a:gdLst/>
              <a:ahLst/>
              <a:cxnLst/>
              <a:rect r="r" b="b" t="t" l="l"/>
              <a:pathLst>
                <a:path h="807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646" r="0" b="-75646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143500" y="3960495"/>
            <a:ext cx="3909060" cy="634365"/>
            <a:chOff x="0" y="0"/>
            <a:chExt cx="5212080" cy="8458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2080" cy="845820"/>
            </a:xfrm>
            <a:custGeom>
              <a:avLst/>
              <a:gdLst/>
              <a:ahLst/>
              <a:cxnLst/>
              <a:rect r="r" b="b" t="t" l="l"/>
              <a:pathLst>
                <a:path h="8458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69" r="0" b="-7006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21208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48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PRICE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64040" y="2400300"/>
            <a:ext cx="3909060" cy="2606040"/>
            <a:chOff x="0" y="0"/>
            <a:chExt cx="5212080" cy="3474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3291840"/>
                  </a:lnTo>
                  <a:cubicBezTo>
                    <a:pt x="5212080" y="3392805"/>
                    <a:pt x="5130165" y="3474720"/>
                    <a:pt x="5029200" y="3474720"/>
                  </a:cubicBezTo>
                  <a:lnTo>
                    <a:pt x="182880" y="3474720"/>
                  </a:lnTo>
                  <a:cubicBezTo>
                    <a:pt x="81915" y="3474720"/>
                    <a:pt x="0" y="3392805"/>
                    <a:pt x="0" y="329184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64040" y="2880360"/>
            <a:ext cx="3909060" cy="1097280"/>
            <a:chOff x="0" y="0"/>
            <a:chExt cx="521208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1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7" r="0" b="-1936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64040" y="2866072"/>
            <a:ext cx="3909060" cy="1111568"/>
            <a:chOff x="0" y="0"/>
            <a:chExt cx="5212080" cy="14820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12080" cy="1482090"/>
            </a:xfrm>
            <a:custGeom>
              <a:avLst/>
              <a:gdLst/>
              <a:ahLst/>
              <a:cxnLst/>
              <a:rect r="r" b="b" t="t" l="l"/>
              <a:pathLst>
                <a:path h="14820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75" r="0" b="-1847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464040" y="2851785"/>
            <a:ext cx="3909060" cy="1125855"/>
            <a:chOff x="0" y="0"/>
            <a:chExt cx="5212080" cy="15011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120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06" r="0" b="-1760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464040" y="2837498"/>
            <a:ext cx="3909060" cy="1140142"/>
            <a:chOff x="0" y="0"/>
            <a:chExt cx="5212080" cy="152019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12080" cy="1520190"/>
            </a:xfrm>
            <a:custGeom>
              <a:avLst/>
              <a:gdLst/>
              <a:ahLst/>
              <a:cxnLst/>
              <a:rect r="r" b="b" t="t" l="l"/>
              <a:pathLst>
                <a:path h="15201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2120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4.45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64040" y="4046220"/>
            <a:ext cx="3909060" cy="548640"/>
            <a:chOff x="0" y="0"/>
            <a:chExt cx="52120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464040" y="4017645"/>
            <a:ext cx="3909060" cy="577215"/>
            <a:chOff x="0" y="0"/>
            <a:chExt cx="5212080" cy="7696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12080" cy="769620"/>
            </a:xfrm>
            <a:custGeom>
              <a:avLst/>
              <a:gdLst/>
              <a:ahLst/>
              <a:cxnLst/>
              <a:rect r="r" b="b" t="t" l="l"/>
              <a:pathLst>
                <a:path h="7696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866" r="0" b="-81866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64040" y="3989070"/>
            <a:ext cx="3909060" cy="605790"/>
            <a:chOff x="0" y="0"/>
            <a:chExt cx="5212080" cy="8077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12080" cy="807720"/>
            </a:xfrm>
            <a:custGeom>
              <a:avLst/>
              <a:gdLst/>
              <a:ahLst/>
              <a:cxnLst/>
              <a:rect r="r" b="b" t="t" l="l"/>
              <a:pathLst>
                <a:path h="807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646" r="0" b="-75646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64040" y="3960495"/>
            <a:ext cx="3909060" cy="634365"/>
            <a:chOff x="0" y="0"/>
            <a:chExt cx="5212080" cy="8458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12080" cy="845820"/>
            </a:xfrm>
            <a:custGeom>
              <a:avLst/>
              <a:gdLst/>
              <a:ahLst/>
              <a:cxnLst/>
              <a:rect r="r" b="b" t="t" l="l"/>
              <a:pathLst>
                <a:path h="8458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69" r="0" b="-7006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21208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48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RATING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84580" y="2400300"/>
            <a:ext cx="3909060" cy="2606040"/>
            <a:chOff x="0" y="0"/>
            <a:chExt cx="5212080" cy="3474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3291840"/>
                  </a:lnTo>
                  <a:cubicBezTo>
                    <a:pt x="5212080" y="3392805"/>
                    <a:pt x="5130165" y="3474720"/>
                    <a:pt x="5029200" y="3474720"/>
                  </a:cubicBezTo>
                  <a:lnTo>
                    <a:pt x="182880" y="3474720"/>
                  </a:lnTo>
                  <a:cubicBezTo>
                    <a:pt x="81915" y="3474720"/>
                    <a:pt x="0" y="3392805"/>
                    <a:pt x="0" y="329184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784580" y="2880360"/>
            <a:ext cx="3909060" cy="1097280"/>
            <a:chOff x="0" y="0"/>
            <a:chExt cx="5212080" cy="1463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21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7" r="0" b="-1936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784580" y="2866072"/>
            <a:ext cx="3909060" cy="1111568"/>
            <a:chOff x="0" y="0"/>
            <a:chExt cx="5212080" cy="148209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12080" cy="1482090"/>
            </a:xfrm>
            <a:custGeom>
              <a:avLst/>
              <a:gdLst/>
              <a:ahLst/>
              <a:cxnLst/>
              <a:rect r="r" b="b" t="t" l="l"/>
              <a:pathLst>
                <a:path h="14820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75" r="0" b="-18475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84580" y="2851785"/>
            <a:ext cx="3909060" cy="1125855"/>
            <a:chOff x="0" y="0"/>
            <a:chExt cx="5212080" cy="15011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120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06" r="0" b="-17606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784580" y="2837498"/>
            <a:ext cx="3909060" cy="1140142"/>
            <a:chOff x="0" y="0"/>
            <a:chExt cx="5212080" cy="152019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12080" cy="1520190"/>
            </a:xfrm>
            <a:custGeom>
              <a:avLst/>
              <a:gdLst/>
              <a:ahLst/>
              <a:cxnLst/>
              <a:rect r="r" b="b" t="t" l="l"/>
              <a:pathLst>
                <a:path h="152019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2120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36,906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84580" y="4046220"/>
            <a:ext cx="3909060" cy="548640"/>
            <a:chOff x="0" y="0"/>
            <a:chExt cx="521208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784580" y="4017645"/>
            <a:ext cx="3909060" cy="577215"/>
            <a:chOff x="0" y="0"/>
            <a:chExt cx="5212080" cy="7696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12080" cy="769620"/>
            </a:xfrm>
            <a:custGeom>
              <a:avLst/>
              <a:gdLst/>
              <a:ahLst/>
              <a:cxnLst/>
              <a:rect r="r" b="b" t="t" l="l"/>
              <a:pathLst>
                <a:path h="7696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866" r="0" b="-8186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784580" y="3989070"/>
            <a:ext cx="3909060" cy="605790"/>
            <a:chOff x="0" y="0"/>
            <a:chExt cx="5212080" cy="8077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12080" cy="807720"/>
            </a:xfrm>
            <a:custGeom>
              <a:avLst/>
              <a:gdLst/>
              <a:ahLst/>
              <a:cxnLst/>
              <a:rect r="r" b="b" t="t" l="l"/>
              <a:pathLst>
                <a:path h="807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646" r="0" b="-75646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784580" y="3960495"/>
            <a:ext cx="3909060" cy="634365"/>
            <a:chOff x="0" y="0"/>
            <a:chExt cx="5212080" cy="8458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12080" cy="845820"/>
            </a:xfrm>
            <a:custGeom>
              <a:avLst/>
              <a:gdLst/>
              <a:ahLst/>
              <a:cxnLst/>
              <a:rect r="r" b="b" t="t" l="l"/>
              <a:pathLst>
                <a:path h="8458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069" r="0" b="-7006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21208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48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SKINCARE SALES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22960" y="5486400"/>
            <a:ext cx="6858000" cy="548640"/>
            <a:chOff x="0" y="0"/>
            <a:chExt cx="914400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4" r="0" b="-193392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22960" y="5457825"/>
            <a:ext cx="6858000" cy="577215"/>
            <a:chOff x="0" y="0"/>
            <a:chExt cx="9144000" cy="7696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0" cy="769620"/>
            </a:xfrm>
            <a:custGeom>
              <a:avLst/>
              <a:gdLst/>
              <a:ahLst/>
              <a:cxnLst/>
              <a:rect r="r" b="b" t="t" l="l"/>
              <a:pathLst>
                <a:path h="7696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44" r="0" b="-181343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22960" y="5429250"/>
            <a:ext cx="6858000" cy="605790"/>
            <a:chOff x="0" y="0"/>
            <a:chExt cx="9144000" cy="8077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0" cy="807720"/>
            </a:xfrm>
            <a:custGeom>
              <a:avLst/>
              <a:gdLst/>
              <a:ahLst/>
              <a:cxnLst/>
              <a:rect r="r" b="b" t="t" l="l"/>
              <a:pathLst>
                <a:path h="807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32" r="0" b="-17043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22960" y="5400675"/>
            <a:ext cx="6858000" cy="634365"/>
            <a:chOff x="0" y="0"/>
            <a:chExt cx="9144000" cy="8458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144000" cy="845820"/>
            </a:xfrm>
            <a:custGeom>
              <a:avLst/>
              <a:gdLst/>
              <a:ahLst/>
              <a:cxnLst/>
              <a:rect r="r" b="b" t="t" l="l"/>
              <a:pathLst>
                <a:path h="8458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0649" r="0" b="-16064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14400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Mix by Category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-54864" y="5225796"/>
            <a:ext cx="8887968" cy="5390388"/>
            <a:chOff x="0" y="0"/>
            <a:chExt cx="11850624" cy="71871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850624" cy="7187184"/>
            </a:xfrm>
            <a:custGeom>
              <a:avLst/>
              <a:gdLst/>
              <a:ahLst/>
              <a:cxnLst/>
              <a:rect r="r" b="b" t="t" l="l"/>
              <a:pathLst>
                <a:path h="7187184" w="11850624">
                  <a:moveTo>
                    <a:pt x="0" y="0"/>
                  </a:moveTo>
                  <a:lnTo>
                    <a:pt x="11850624" y="0"/>
                  </a:lnTo>
                  <a:lnTo>
                    <a:pt x="11850624" y="7187184"/>
                  </a:lnTo>
                  <a:lnTo>
                    <a:pt x="0" y="718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" r="0" b="-13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052560" y="5486400"/>
            <a:ext cx="8229600" cy="548640"/>
            <a:chOff x="0" y="0"/>
            <a:chExt cx="1097280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052560" y="5457825"/>
            <a:ext cx="8229600" cy="577215"/>
            <a:chOff x="0" y="0"/>
            <a:chExt cx="10972800" cy="7696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00" cy="769620"/>
            </a:xfrm>
            <a:custGeom>
              <a:avLst/>
              <a:gdLst/>
              <a:ahLst/>
              <a:cxnLst/>
              <a:rect r="r" b="b" t="t" l="l"/>
              <a:pathLst>
                <a:path h="7696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613" r="0" b="-227612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052560" y="5429250"/>
            <a:ext cx="8229600" cy="605790"/>
            <a:chOff x="0" y="0"/>
            <a:chExt cx="10972800" cy="8077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72800" cy="807720"/>
            </a:xfrm>
            <a:custGeom>
              <a:avLst/>
              <a:gdLst/>
              <a:ahLst/>
              <a:cxnLst/>
              <a:rect r="r" b="b" t="t" l="l"/>
              <a:pathLst>
                <a:path h="807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7720"/>
                  </a:lnTo>
                  <a:lnTo>
                    <a:pt x="0" y="807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518" r="0" b="-214517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052560" y="5400675"/>
            <a:ext cx="8229600" cy="634365"/>
            <a:chOff x="0" y="0"/>
            <a:chExt cx="10972800" cy="8458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972800" cy="845820"/>
            </a:xfrm>
            <a:custGeom>
              <a:avLst/>
              <a:gdLst/>
              <a:ahLst/>
              <a:cxnLst/>
              <a:rect r="r" b="b" t="t" l="l"/>
              <a:pathLst>
                <a:path h="8458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45820"/>
                  </a:lnTo>
                  <a:lnTo>
                    <a:pt x="0" y="845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2778" r="0" b="-20277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10972800" cy="88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Skin Type Distribution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380476" y="5157216"/>
            <a:ext cx="9710928" cy="5527548"/>
            <a:chOff x="0" y="0"/>
            <a:chExt cx="12947904" cy="737006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2947904" cy="7370064"/>
            </a:xfrm>
            <a:custGeom>
              <a:avLst/>
              <a:gdLst/>
              <a:ahLst/>
              <a:cxnLst/>
              <a:rect r="r" b="b" t="t" l="l"/>
              <a:pathLst>
                <a:path h="7370064" w="12947904">
                  <a:moveTo>
                    <a:pt x="0" y="0"/>
                  </a:moveTo>
                  <a:lnTo>
                    <a:pt x="12947904" y="0"/>
                  </a:lnTo>
                  <a:lnTo>
                    <a:pt x="12947904" y="7370064"/>
                  </a:lnTo>
                  <a:lnTo>
                    <a:pt x="0" y="7370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1" t="0" r="-51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85800" y="9785509"/>
            <a:ext cx="10972800" cy="432911"/>
            <a:chOff x="0" y="0"/>
            <a:chExt cx="14630400" cy="57721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4630400" cy="577215"/>
            </a:xfrm>
            <a:custGeom>
              <a:avLst/>
              <a:gdLst/>
              <a:ahLst/>
              <a:cxnLst/>
              <a:rect r="r" b="b" t="t" l="l"/>
              <a:pathLst>
                <a:path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535" r="0" b="-443533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685800" y="9764078"/>
            <a:ext cx="10972800" cy="454343"/>
            <a:chOff x="0" y="0"/>
            <a:chExt cx="14630400" cy="60579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4630400" cy="605790"/>
            </a:xfrm>
            <a:custGeom>
              <a:avLst/>
              <a:gdLst/>
              <a:ahLst/>
              <a:cxnLst/>
              <a:rect r="r" b="b" t="t" l="l"/>
              <a:pathLst>
                <a:path h="6057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0255" r="0" b="-420253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685800" y="9742646"/>
            <a:ext cx="10972800" cy="475774"/>
            <a:chOff x="0" y="0"/>
            <a:chExt cx="14630400" cy="63436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4630400" cy="634366"/>
            </a:xfrm>
            <a:custGeom>
              <a:avLst/>
              <a:gdLst/>
              <a:ahLst/>
              <a:cxnLst/>
              <a:rect r="r" b="b" t="t" l="l"/>
              <a:pathLst>
                <a:path h="6343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384" r="0" b="-39938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146304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Cosmetics Trends &amp; Consumer Insights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7282160" y="9806940"/>
            <a:ext cx="548640" cy="411480"/>
            <a:chOff x="0" y="0"/>
            <a:chExt cx="731520" cy="5486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95" t="0" r="-46293" b="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7282160" y="9785509"/>
            <a:ext cx="548640" cy="432911"/>
            <a:chOff x="0" y="0"/>
            <a:chExt cx="731520" cy="57721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0" cy="577215"/>
            </a:xfrm>
            <a:custGeom>
              <a:avLst/>
              <a:gdLst/>
              <a:ahLst/>
              <a:cxnLst/>
              <a:rect r="r" b="b" t="t" l="l"/>
              <a:pathLst>
                <a:path h="5772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310" t="0" r="-51309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7282160" y="9764078"/>
            <a:ext cx="548640" cy="454343"/>
            <a:chOff x="0" y="0"/>
            <a:chExt cx="731520" cy="60579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3152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324" t="0" r="-56326" b="0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7282160" y="9742646"/>
            <a:ext cx="548640" cy="475774"/>
            <a:chOff x="0" y="0"/>
            <a:chExt cx="731520" cy="63436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31520" cy="634366"/>
            </a:xfrm>
            <a:custGeom>
              <a:avLst/>
              <a:gdLst/>
              <a:ahLst/>
              <a:cxnLst/>
              <a:rect r="r" b="b" t="t" l="l"/>
              <a:pathLst>
                <a:path h="63436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1263" t="0" r="-6126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73152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5087600" cy="822960"/>
            <a:chOff x="0" y="0"/>
            <a:chExt cx="201168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976" r="0" b="-3069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34352"/>
            <a:ext cx="15087600" cy="837248"/>
            <a:chOff x="0" y="0"/>
            <a:chExt cx="20116800" cy="1116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1116330"/>
            </a:xfrm>
            <a:custGeom>
              <a:avLst/>
              <a:gdLst/>
              <a:ahLst/>
              <a:cxnLst/>
              <a:rect r="r" b="b" t="t" l="l"/>
              <a:pathLst>
                <a:path h="11163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885" r="0" b="-3008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520065"/>
            <a:ext cx="15087600" cy="851535"/>
            <a:chOff x="0" y="0"/>
            <a:chExt cx="20116800" cy="1135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1135380"/>
            </a:xfrm>
            <a:custGeom>
              <a:avLst/>
              <a:gdLst/>
              <a:ahLst/>
              <a:cxnLst/>
              <a:rect r="r" b="b" t="t" l="l"/>
              <a:pathLst>
                <a:path h="11353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997" r="0" b="-2949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505778"/>
            <a:ext cx="15087600" cy="865823"/>
            <a:chOff x="0" y="0"/>
            <a:chExt cx="20116800" cy="1154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E1A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Sales Performance by Brand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7160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805" r="0" b="-5098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35881"/>
            <a:ext cx="15773400" cy="584359"/>
            <a:chOff x="0" y="0"/>
            <a:chExt cx="21031200" cy="7791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5587" r="0" b="-47558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300162"/>
            <a:ext cx="15773400" cy="620078"/>
            <a:chOff x="0" y="0"/>
            <a:chExt cx="21031200" cy="826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6770"/>
            </a:xfrm>
            <a:custGeom>
              <a:avLst/>
              <a:gdLst/>
              <a:ahLst/>
              <a:cxnLst/>
              <a:rect r="r" b="b" t="t" l="l"/>
              <a:pathLst>
                <a:path h="82677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6770"/>
                  </a:lnTo>
                  <a:lnTo>
                    <a:pt x="0" y="826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5311" r="0" b="-44531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264444"/>
            <a:ext cx="15773400" cy="655796"/>
            <a:chOff x="0" y="0"/>
            <a:chExt cx="21031200" cy="8743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874396"/>
            </a:xfrm>
            <a:custGeom>
              <a:avLst/>
              <a:gdLst/>
              <a:ahLst/>
              <a:cxnLst/>
              <a:rect r="r" b="b" t="t" l="l"/>
              <a:pathLst>
                <a:path h="874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74396"/>
                  </a:lnTo>
                  <a:lnTo>
                    <a:pt x="0" y="8743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8659" r="0" b="-418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031200" cy="922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Nivea leads sales volume; the top 10 brands stay within a tight 5,940–6,306 unit band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001268" y="507492"/>
            <a:ext cx="20244816" cy="10506456"/>
            <a:chOff x="0" y="0"/>
            <a:chExt cx="26993088" cy="14008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993087" cy="14008608"/>
            </a:xfrm>
            <a:custGeom>
              <a:avLst/>
              <a:gdLst/>
              <a:ahLst/>
              <a:cxnLst/>
              <a:rect r="r" b="b" t="t" l="l"/>
              <a:pathLst>
                <a:path h="14008608" w="26993087">
                  <a:moveTo>
                    <a:pt x="0" y="0"/>
                  </a:moveTo>
                  <a:lnTo>
                    <a:pt x="26993087" y="0"/>
                  </a:lnTo>
                  <a:lnTo>
                    <a:pt x="26993087" y="14008608"/>
                  </a:lnTo>
                  <a:lnTo>
                    <a:pt x="0" y="14008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" r="0" b="-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9785509"/>
            <a:ext cx="10972800" cy="432911"/>
            <a:chOff x="0" y="0"/>
            <a:chExt cx="14630400" cy="5772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577215"/>
            </a:xfrm>
            <a:custGeom>
              <a:avLst/>
              <a:gdLst/>
              <a:ahLst/>
              <a:cxnLst/>
              <a:rect r="r" b="b" t="t" l="l"/>
              <a:pathLst>
                <a:path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535" r="0" b="-4435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5800" y="9764078"/>
            <a:ext cx="10972800" cy="454343"/>
            <a:chOff x="0" y="0"/>
            <a:chExt cx="14630400" cy="6057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605790"/>
            </a:xfrm>
            <a:custGeom>
              <a:avLst/>
              <a:gdLst/>
              <a:ahLst/>
              <a:cxnLst/>
              <a:rect r="r" b="b" t="t" l="l"/>
              <a:pathLst>
                <a:path h="6057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0255" r="0" b="-42025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5800" y="9742646"/>
            <a:ext cx="10972800" cy="475774"/>
            <a:chOff x="0" y="0"/>
            <a:chExt cx="14630400" cy="6343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0" cy="634366"/>
            </a:xfrm>
            <a:custGeom>
              <a:avLst/>
              <a:gdLst/>
              <a:ahLst/>
              <a:cxnLst/>
              <a:rect r="r" b="b" t="t" l="l"/>
              <a:pathLst>
                <a:path h="6343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384" r="0" b="-3993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46304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Cosmetics Trends &amp; Consumer Insights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282160" y="9806940"/>
            <a:ext cx="548640" cy="411480"/>
            <a:chOff x="0" y="0"/>
            <a:chExt cx="7315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95" t="0" r="-46293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82160" y="9785509"/>
            <a:ext cx="548640" cy="432911"/>
            <a:chOff x="0" y="0"/>
            <a:chExt cx="731520" cy="5772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577215"/>
            </a:xfrm>
            <a:custGeom>
              <a:avLst/>
              <a:gdLst/>
              <a:ahLst/>
              <a:cxnLst/>
              <a:rect r="r" b="b" t="t" l="l"/>
              <a:pathLst>
                <a:path h="5772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310" t="0" r="-51309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282160" y="9764078"/>
            <a:ext cx="548640" cy="454343"/>
            <a:chOff x="0" y="0"/>
            <a:chExt cx="731520" cy="6057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324" t="0" r="-56326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7282160" y="9742646"/>
            <a:ext cx="548640" cy="475774"/>
            <a:chOff x="0" y="0"/>
            <a:chExt cx="731520" cy="6343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634366"/>
            </a:xfrm>
            <a:custGeom>
              <a:avLst/>
              <a:gdLst/>
              <a:ahLst/>
              <a:cxnLst/>
              <a:rect r="r" b="b" t="t" l="l"/>
              <a:pathLst>
                <a:path h="63436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1263" t="0" r="-6126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3152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5087600" cy="822960"/>
            <a:chOff x="0" y="0"/>
            <a:chExt cx="201168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976" r="0" b="-3069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34352"/>
            <a:ext cx="15087600" cy="837248"/>
            <a:chOff x="0" y="0"/>
            <a:chExt cx="20116800" cy="1116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1116330"/>
            </a:xfrm>
            <a:custGeom>
              <a:avLst/>
              <a:gdLst/>
              <a:ahLst/>
              <a:cxnLst/>
              <a:rect r="r" b="b" t="t" l="l"/>
              <a:pathLst>
                <a:path h="11163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885" r="0" b="-3008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520065"/>
            <a:ext cx="15087600" cy="851535"/>
            <a:chOff x="0" y="0"/>
            <a:chExt cx="20116800" cy="1135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1135380"/>
            </a:xfrm>
            <a:custGeom>
              <a:avLst/>
              <a:gdLst/>
              <a:ahLst/>
              <a:cxnLst/>
              <a:rect r="r" b="b" t="t" l="l"/>
              <a:pathLst>
                <a:path h="11353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997" r="0" b="-2949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505778"/>
            <a:ext cx="15087600" cy="865823"/>
            <a:chOff x="0" y="0"/>
            <a:chExt cx="20116800" cy="1154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E1A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Price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7160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805" r="0" b="-5098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35881"/>
            <a:ext cx="15773400" cy="584359"/>
            <a:chOff x="0" y="0"/>
            <a:chExt cx="21031200" cy="7791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5587" r="0" b="-47558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300162"/>
            <a:ext cx="15773400" cy="620078"/>
            <a:chOff x="0" y="0"/>
            <a:chExt cx="21031200" cy="826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6770"/>
            </a:xfrm>
            <a:custGeom>
              <a:avLst/>
              <a:gdLst/>
              <a:ahLst/>
              <a:cxnLst/>
              <a:rect r="r" b="b" t="t" l="l"/>
              <a:pathLst>
                <a:path h="82677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6770"/>
                  </a:lnTo>
                  <a:lnTo>
                    <a:pt x="0" y="826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5311" r="0" b="-44531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264444"/>
            <a:ext cx="15773400" cy="655796"/>
            <a:chOff x="0" y="0"/>
            <a:chExt cx="21031200" cy="8743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874396"/>
            </a:xfrm>
            <a:custGeom>
              <a:avLst/>
              <a:gdLst/>
              <a:ahLst/>
              <a:cxnLst/>
              <a:rect r="r" b="b" t="t" l="l"/>
              <a:pathLst>
                <a:path h="874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74396"/>
                  </a:lnTo>
                  <a:lnTo>
                    <a:pt x="0" y="8743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8659" r="0" b="-418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031200" cy="922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Pricing trends across brands and the products commanding the highest price points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2125980"/>
            <a:ext cx="8229600" cy="480060"/>
            <a:chOff x="0" y="0"/>
            <a:chExt cx="109728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" y="2083117"/>
            <a:ext cx="8229600" cy="522922"/>
            <a:chOff x="0" y="0"/>
            <a:chExt cx="10972800" cy="6972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97230"/>
            </a:xfrm>
            <a:custGeom>
              <a:avLst/>
              <a:gdLst/>
              <a:ahLst/>
              <a:cxnLst/>
              <a:rect r="r" b="b" t="t" l="l"/>
              <a:pathLst>
                <a:path h="6972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437" r="0" b="-25643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2040255"/>
            <a:ext cx="8229600" cy="565785"/>
            <a:chOff x="0" y="0"/>
            <a:chExt cx="10972800" cy="7543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54380"/>
            </a:xfrm>
            <a:custGeom>
              <a:avLst/>
              <a:gdLst/>
              <a:ahLst/>
              <a:cxnLst/>
              <a:rect r="r" b="b" t="t" l="l"/>
              <a:pathLst>
                <a:path h="7543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4380"/>
                  </a:lnTo>
                  <a:lnTo>
                    <a:pt x="0" y="754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222" r="0" b="-23322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5800" y="1997392"/>
            <a:ext cx="8229600" cy="608648"/>
            <a:chOff x="0" y="0"/>
            <a:chExt cx="10972800" cy="8115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811530"/>
            </a:xfrm>
            <a:custGeom>
              <a:avLst/>
              <a:gdLst/>
              <a:ahLst/>
              <a:cxnLst/>
              <a:rect r="r" b="b" t="t" l="l"/>
              <a:pathLst>
                <a:path h="811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1530"/>
                  </a:lnTo>
                  <a:lnTo>
                    <a:pt x="0" y="8115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459" r="0" b="-2134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972800" cy="86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Price by Brand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56616" y="1769364"/>
            <a:ext cx="10863072" cy="8531352"/>
            <a:chOff x="0" y="0"/>
            <a:chExt cx="14484096" cy="11375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84096" cy="11375136"/>
            </a:xfrm>
            <a:custGeom>
              <a:avLst/>
              <a:gdLst/>
              <a:ahLst/>
              <a:cxnLst/>
              <a:rect r="r" b="b" t="t" l="l"/>
              <a:pathLst>
                <a:path h="11375136" w="14484096">
                  <a:moveTo>
                    <a:pt x="0" y="0"/>
                  </a:moveTo>
                  <a:lnTo>
                    <a:pt x="14484096" y="0"/>
                  </a:lnTo>
                  <a:lnTo>
                    <a:pt x="14484096" y="11375136"/>
                  </a:lnTo>
                  <a:lnTo>
                    <a:pt x="0" y="1137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8" r="0" b="-3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75520" y="2125980"/>
            <a:ext cx="8229600" cy="480060"/>
            <a:chOff x="0" y="0"/>
            <a:chExt cx="1097280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5520" y="2083117"/>
            <a:ext cx="8229600" cy="522922"/>
            <a:chOff x="0" y="0"/>
            <a:chExt cx="10972800" cy="6972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97230"/>
            </a:xfrm>
            <a:custGeom>
              <a:avLst/>
              <a:gdLst/>
              <a:ahLst/>
              <a:cxnLst/>
              <a:rect r="r" b="b" t="t" l="l"/>
              <a:pathLst>
                <a:path h="6972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437" r="0" b="-25643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75520" y="2040255"/>
            <a:ext cx="8229600" cy="565785"/>
            <a:chOff x="0" y="0"/>
            <a:chExt cx="10972800" cy="7543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54380"/>
            </a:xfrm>
            <a:custGeom>
              <a:avLst/>
              <a:gdLst/>
              <a:ahLst/>
              <a:cxnLst/>
              <a:rect r="r" b="b" t="t" l="l"/>
              <a:pathLst>
                <a:path h="7543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4380"/>
                  </a:lnTo>
                  <a:lnTo>
                    <a:pt x="0" y="754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222" r="0" b="-23322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75520" y="1997392"/>
            <a:ext cx="8229600" cy="608648"/>
            <a:chOff x="0" y="0"/>
            <a:chExt cx="10972800" cy="8115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11530"/>
            </a:xfrm>
            <a:custGeom>
              <a:avLst/>
              <a:gdLst/>
              <a:ahLst/>
              <a:cxnLst/>
              <a:rect r="r" b="b" t="t" l="l"/>
              <a:pathLst>
                <a:path h="811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1530"/>
                  </a:lnTo>
                  <a:lnTo>
                    <a:pt x="0" y="8115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459" r="0" b="-2134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972800" cy="86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10 Most Expensive Products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29116" y="1865376"/>
            <a:ext cx="9710928" cy="8339328"/>
            <a:chOff x="0" y="0"/>
            <a:chExt cx="12947904" cy="11119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947904" cy="11119104"/>
            </a:xfrm>
            <a:custGeom>
              <a:avLst/>
              <a:gdLst/>
              <a:ahLst/>
              <a:cxnLst/>
              <a:rect r="r" b="b" t="t" l="l"/>
              <a:pathLst>
                <a:path h="11119104" w="12947904">
                  <a:moveTo>
                    <a:pt x="0" y="0"/>
                  </a:moveTo>
                  <a:lnTo>
                    <a:pt x="12947904" y="0"/>
                  </a:lnTo>
                  <a:lnTo>
                    <a:pt x="12947904" y="11119104"/>
                  </a:lnTo>
                  <a:lnTo>
                    <a:pt x="0" y="1111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" r="0" b="-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" y="9785509"/>
            <a:ext cx="10972800" cy="432911"/>
            <a:chOff x="0" y="0"/>
            <a:chExt cx="14630400" cy="5772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577215"/>
            </a:xfrm>
            <a:custGeom>
              <a:avLst/>
              <a:gdLst/>
              <a:ahLst/>
              <a:cxnLst/>
              <a:rect r="r" b="b" t="t" l="l"/>
              <a:pathLst>
                <a:path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535" r="0" b="-44353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" y="9764078"/>
            <a:ext cx="10972800" cy="454343"/>
            <a:chOff x="0" y="0"/>
            <a:chExt cx="14630400" cy="6057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605790"/>
            </a:xfrm>
            <a:custGeom>
              <a:avLst/>
              <a:gdLst/>
              <a:ahLst/>
              <a:cxnLst/>
              <a:rect r="r" b="b" t="t" l="l"/>
              <a:pathLst>
                <a:path h="6057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0255" r="0" b="-42025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85800" y="9742646"/>
            <a:ext cx="10972800" cy="475774"/>
            <a:chOff x="0" y="0"/>
            <a:chExt cx="14630400" cy="6343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634366"/>
            </a:xfrm>
            <a:custGeom>
              <a:avLst/>
              <a:gdLst/>
              <a:ahLst/>
              <a:cxnLst/>
              <a:rect r="r" b="b" t="t" l="l"/>
              <a:pathLst>
                <a:path h="6343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384" r="0" b="-3993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46304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Cosmetics Trends &amp; Consumer Insights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282160" y="9806940"/>
            <a:ext cx="548640" cy="411480"/>
            <a:chOff x="0" y="0"/>
            <a:chExt cx="73152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95" t="0" r="-46293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282160" y="9785509"/>
            <a:ext cx="548640" cy="432911"/>
            <a:chOff x="0" y="0"/>
            <a:chExt cx="731520" cy="5772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77215"/>
            </a:xfrm>
            <a:custGeom>
              <a:avLst/>
              <a:gdLst/>
              <a:ahLst/>
              <a:cxnLst/>
              <a:rect r="r" b="b" t="t" l="l"/>
              <a:pathLst>
                <a:path h="5772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310" t="0" r="-51309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282160" y="9764078"/>
            <a:ext cx="548640" cy="454343"/>
            <a:chOff x="0" y="0"/>
            <a:chExt cx="731520" cy="6057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324" t="0" r="-56326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282160" y="9742646"/>
            <a:ext cx="548640" cy="475774"/>
            <a:chOff x="0" y="0"/>
            <a:chExt cx="731520" cy="6343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634366"/>
            </a:xfrm>
            <a:custGeom>
              <a:avLst/>
              <a:gdLst/>
              <a:ahLst/>
              <a:cxnLst/>
              <a:rect r="r" b="b" t="t" l="l"/>
              <a:pathLst>
                <a:path h="63436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1263" t="0" r="-6126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73152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5087600" cy="822960"/>
            <a:chOff x="0" y="0"/>
            <a:chExt cx="201168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976" r="0" b="-3069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34352"/>
            <a:ext cx="15087600" cy="837248"/>
            <a:chOff x="0" y="0"/>
            <a:chExt cx="20116800" cy="1116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1116330"/>
            </a:xfrm>
            <a:custGeom>
              <a:avLst/>
              <a:gdLst/>
              <a:ahLst/>
              <a:cxnLst/>
              <a:rect r="r" b="b" t="t" l="l"/>
              <a:pathLst>
                <a:path h="11163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885" r="0" b="-3008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520065"/>
            <a:ext cx="15087600" cy="851535"/>
            <a:chOff x="0" y="0"/>
            <a:chExt cx="20116800" cy="1135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1135380"/>
            </a:xfrm>
            <a:custGeom>
              <a:avLst/>
              <a:gdLst/>
              <a:ahLst/>
              <a:cxnLst/>
              <a:rect r="r" b="b" t="t" l="l"/>
              <a:pathLst>
                <a:path h="11353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4997" r="0" b="-2949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505778"/>
            <a:ext cx="15087600" cy="865823"/>
            <a:chOff x="0" y="0"/>
            <a:chExt cx="20116800" cy="1154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E1A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Ratings &amp; Price Relationship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37160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805" r="0" b="-5098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335881"/>
            <a:ext cx="15773400" cy="584359"/>
            <a:chOff x="0" y="0"/>
            <a:chExt cx="21031200" cy="7791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5587" r="0" b="-47558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300162"/>
            <a:ext cx="15773400" cy="620078"/>
            <a:chOff x="0" y="0"/>
            <a:chExt cx="21031200" cy="826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826770"/>
            </a:xfrm>
            <a:custGeom>
              <a:avLst/>
              <a:gdLst/>
              <a:ahLst/>
              <a:cxnLst/>
              <a:rect r="r" b="b" t="t" l="l"/>
              <a:pathLst>
                <a:path h="82677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6770"/>
                  </a:lnTo>
                  <a:lnTo>
                    <a:pt x="0" y="8267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5311" r="0" b="-44531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1264444"/>
            <a:ext cx="15773400" cy="655796"/>
            <a:chOff x="0" y="0"/>
            <a:chExt cx="21031200" cy="8743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874396"/>
            </a:xfrm>
            <a:custGeom>
              <a:avLst/>
              <a:gdLst/>
              <a:ahLst/>
              <a:cxnLst/>
              <a:rect r="r" b="b" t="t" l="l"/>
              <a:pathLst>
                <a:path h="8743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74396"/>
                  </a:lnTo>
                  <a:lnTo>
                    <a:pt x="0" y="8743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8659" r="0" b="-418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031200" cy="922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customer ratings are distributed, and how price correlates with satisfaction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2125980"/>
            <a:ext cx="8229600" cy="480060"/>
            <a:chOff x="0" y="0"/>
            <a:chExt cx="109728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" y="2083117"/>
            <a:ext cx="8229600" cy="522922"/>
            <a:chOff x="0" y="0"/>
            <a:chExt cx="10972800" cy="6972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97230"/>
            </a:xfrm>
            <a:custGeom>
              <a:avLst/>
              <a:gdLst/>
              <a:ahLst/>
              <a:cxnLst/>
              <a:rect r="r" b="b" t="t" l="l"/>
              <a:pathLst>
                <a:path h="6972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437" r="0" b="-25643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2040255"/>
            <a:ext cx="8229600" cy="565785"/>
            <a:chOff x="0" y="0"/>
            <a:chExt cx="10972800" cy="7543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54380"/>
            </a:xfrm>
            <a:custGeom>
              <a:avLst/>
              <a:gdLst/>
              <a:ahLst/>
              <a:cxnLst/>
              <a:rect r="r" b="b" t="t" l="l"/>
              <a:pathLst>
                <a:path h="7543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4380"/>
                  </a:lnTo>
                  <a:lnTo>
                    <a:pt x="0" y="754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222" r="0" b="-23322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5800" y="1997392"/>
            <a:ext cx="8229600" cy="608648"/>
            <a:chOff x="0" y="0"/>
            <a:chExt cx="10972800" cy="8115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811530"/>
            </a:xfrm>
            <a:custGeom>
              <a:avLst/>
              <a:gdLst/>
              <a:ahLst/>
              <a:cxnLst/>
              <a:rect r="r" b="b" t="t" l="l"/>
              <a:pathLst>
                <a:path h="811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1530"/>
                  </a:lnTo>
                  <a:lnTo>
                    <a:pt x="0" y="8115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459" r="0" b="-2134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972800" cy="86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Distribution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56616" y="1769364"/>
            <a:ext cx="10863072" cy="8531352"/>
            <a:chOff x="0" y="0"/>
            <a:chExt cx="14484096" cy="11375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84096" cy="11375136"/>
            </a:xfrm>
            <a:custGeom>
              <a:avLst/>
              <a:gdLst/>
              <a:ahLst/>
              <a:cxnLst/>
              <a:rect r="r" b="b" t="t" l="l"/>
              <a:pathLst>
                <a:path h="11375136" w="14484096">
                  <a:moveTo>
                    <a:pt x="0" y="0"/>
                  </a:moveTo>
                  <a:lnTo>
                    <a:pt x="14484096" y="0"/>
                  </a:lnTo>
                  <a:lnTo>
                    <a:pt x="14484096" y="11375136"/>
                  </a:lnTo>
                  <a:lnTo>
                    <a:pt x="0" y="1137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8" r="0" b="-3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75520" y="2125980"/>
            <a:ext cx="8229600" cy="480060"/>
            <a:chOff x="0" y="0"/>
            <a:chExt cx="1097280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5520" y="2083117"/>
            <a:ext cx="8229600" cy="522922"/>
            <a:chOff x="0" y="0"/>
            <a:chExt cx="10972800" cy="6972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97230"/>
            </a:xfrm>
            <a:custGeom>
              <a:avLst/>
              <a:gdLst/>
              <a:ahLst/>
              <a:cxnLst/>
              <a:rect r="r" b="b" t="t" l="l"/>
              <a:pathLst>
                <a:path h="6972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97230"/>
                  </a:lnTo>
                  <a:lnTo>
                    <a:pt x="0" y="697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437" r="0" b="-25643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75520" y="2040255"/>
            <a:ext cx="8229600" cy="565785"/>
            <a:chOff x="0" y="0"/>
            <a:chExt cx="10972800" cy="7543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54380"/>
            </a:xfrm>
            <a:custGeom>
              <a:avLst/>
              <a:gdLst/>
              <a:ahLst/>
              <a:cxnLst/>
              <a:rect r="r" b="b" t="t" l="l"/>
              <a:pathLst>
                <a:path h="7543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54380"/>
                  </a:lnTo>
                  <a:lnTo>
                    <a:pt x="0" y="754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3222" r="0" b="-23322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75520" y="1997392"/>
            <a:ext cx="8229600" cy="608648"/>
            <a:chOff x="0" y="0"/>
            <a:chExt cx="10972800" cy="8115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11530"/>
            </a:xfrm>
            <a:custGeom>
              <a:avLst/>
              <a:gdLst/>
              <a:ahLst/>
              <a:cxnLst/>
              <a:rect r="r" b="b" t="t" l="l"/>
              <a:pathLst>
                <a:path h="8115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1530"/>
                  </a:lnTo>
                  <a:lnTo>
                    <a:pt x="0" y="8115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459" r="0" b="-2134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972800" cy="868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2C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Price vs. Average Rating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29116" y="1865376"/>
            <a:ext cx="9710928" cy="8339328"/>
            <a:chOff x="0" y="0"/>
            <a:chExt cx="12947904" cy="11119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947904" cy="11119104"/>
            </a:xfrm>
            <a:custGeom>
              <a:avLst/>
              <a:gdLst/>
              <a:ahLst/>
              <a:cxnLst/>
              <a:rect r="r" b="b" t="t" l="l"/>
              <a:pathLst>
                <a:path h="11119104" w="12947904">
                  <a:moveTo>
                    <a:pt x="0" y="0"/>
                  </a:moveTo>
                  <a:lnTo>
                    <a:pt x="12947904" y="0"/>
                  </a:lnTo>
                  <a:lnTo>
                    <a:pt x="12947904" y="11119104"/>
                  </a:lnTo>
                  <a:lnTo>
                    <a:pt x="0" y="1111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" r="0" b="-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" y="9806940"/>
            <a:ext cx="10972800" cy="411480"/>
            <a:chOff x="0" y="0"/>
            <a:chExt cx="14630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" y="9785509"/>
            <a:ext cx="10972800" cy="432911"/>
            <a:chOff x="0" y="0"/>
            <a:chExt cx="14630400" cy="5772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577215"/>
            </a:xfrm>
            <a:custGeom>
              <a:avLst/>
              <a:gdLst/>
              <a:ahLst/>
              <a:cxnLst/>
              <a:rect r="r" b="b" t="t" l="l"/>
              <a:pathLst>
                <a:path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535" r="0" b="-44353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" y="9764078"/>
            <a:ext cx="10972800" cy="454343"/>
            <a:chOff x="0" y="0"/>
            <a:chExt cx="14630400" cy="6057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605790"/>
            </a:xfrm>
            <a:custGeom>
              <a:avLst/>
              <a:gdLst/>
              <a:ahLst/>
              <a:cxnLst/>
              <a:rect r="r" b="b" t="t" l="l"/>
              <a:pathLst>
                <a:path h="6057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0255" r="0" b="-42025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85800" y="9742646"/>
            <a:ext cx="10972800" cy="475774"/>
            <a:chOff x="0" y="0"/>
            <a:chExt cx="14630400" cy="6343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634366"/>
            </a:xfrm>
            <a:custGeom>
              <a:avLst/>
              <a:gdLst/>
              <a:ahLst/>
              <a:cxnLst/>
              <a:rect r="r" b="b" t="t" l="l"/>
              <a:pathLst>
                <a:path h="63436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384" r="0" b="-3993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46304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Cosmetics Trends &amp; Consumer Insights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282160" y="9806940"/>
            <a:ext cx="548640" cy="411480"/>
            <a:chOff x="0" y="0"/>
            <a:chExt cx="73152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95" t="0" r="-46293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282160" y="9785509"/>
            <a:ext cx="548640" cy="432911"/>
            <a:chOff x="0" y="0"/>
            <a:chExt cx="731520" cy="5772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77215"/>
            </a:xfrm>
            <a:custGeom>
              <a:avLst/>
              <a:gdLst/>
              <a:ahLst/>
              <a:cxnLst/>
              <a:rect r="r" b="b" t="t" l="l"/>
              <a:pathLst>
                <a:path h="5772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310" t="0" r="-51309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282160" y="9764078"/>
            <a:ext cx="548640" cy="454343"/>
            <a:chOff x="0" y="0"/>
            <a:chExt cx="731520" cy="6057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05790"/>
                  </a:lnTo>
                  <a:lnTo>
                    <a:pt x="0" y="605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324" t="0" r="-56326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282160" y="9742646"/>
            <a:ext cx="548640" cy="475774"/>
            <a:chOff x="0" y="0"/>
            <a:chExt cx="731520" cy="6343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634366"/>
            </a:xfrm>
            <a:custGeom>
              <a:avLst/>
              <a:gdLst/>
              <a:ahLst/>
              <a:cxnLst/>
              <a:rect r="r" b="b" t="t" l="l"/>
              <a:pathLst>
                <a:path h="63436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34366"/>
                  </a:lnTo>
                  <a:lnTo>
                    <a:pt x="0" y="63436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1263" t="0" r="-6126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73152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267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1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27432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6D2E46">
                <a:alpha val="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754380"/>
            <a:ext cx="10972800" cy="960120"/>
            <a:chOff x="0" y="0"/>
            <a:chExt cx="146304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531" r="0" b="-17253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747236"/>
            <a:ext cx="10972800" cy="967264"/>
            <a:chOff x="0" y="0"/>
            <a:chExt cx="14630400" cy="1289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1289685"/>
            </a:xfrm>
            <a:custGeom>
              <a:avLst/>
              <a:gdLst/>
              <a:ahLst/>
              <a:cxnLst/>
              <a:rect r="r" b="b" t="t" l="l"/>
              <a:pathLst>
                <a:path h="128968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88" r="0" b="-1708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740093"/>
            <a:ext cx="10972800" cy="974407"/>
            <a:chOff x="0" y="0"/>
            <a:chExt cx="14630400" cy="129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1299210"/>
            </a:xfrm>
            <a:custGeom>
              <a:avLst/>
              <a:gdLst/>
              <a:ahLst/>
              <a:cxnLst/>
              <a:rect r="r" b="b" t="t" l="l"/>
              <a:pathLst>
                <a:path h="129921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9268" r="0" b="-16926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732949"/>
            <a:ext cx="10972800" cy="981551"/>
            <a:chOff x="0" y="0"/>
            <a:chExt cx="14630400" cy="1308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1308734"/>
            </a:xfrm>
            <a:custGeom>
              <a:avLst/>
              <a:gdLst/>
              <a:ahLst/>
              <a:cxnLst/>
              <a:rect r="r" b="b" t="t" l="l"/>
              <a:pathLst>
                <a:path h="130873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308734"/>
                  </a:lnTo>
                  <a:lnTo>
                    <a:pt x="0" y="13087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7824" r="0" b="-1678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6304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Insights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2263140"/>
            <a:ext cx="8092440" cy="2331720"/>
            <a:chOff x="0" y="0"/>
            <a:chExt cx="10789920" cy="3108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2468880"/>
            <a:ext cx="7406640" cy="685800"/>
            <a:chOff x="0" y="0"/>
            <a:chExt cx="98755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2433161"/>
            <a:ext cx="7406640" cy="721519"/>
            <a:chOff x="0" y="0"/>
            <a:chExt cx="9875520" cy="9620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397442"/>
            <a:ext cx="7406640" cy="757238"/>
            <a:chOff x="0" y="0"/>
            <a:chExt cx="9875520" cy="10096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2361724"/>
            <a:ext cx="7406640" cy="792956"/>
            <a:chOff x="0" y="0"/>
            <a:chExt cx="9875520" cy="1057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Skincare dominates the catalog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3154680"/>
            <a:ext cx="7406640" cy="1303020"/>
            <a:chOff x="0" y="0"/>
            <a:chExt cx="9875520" cy="1737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03020" y="3104674"/>
            <a:ext cx="7406640" cy="1353026"/>
            <a:chOff x="0" y="0"/>
            <a:chExt cx="9875520" cy="18040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3020" y="3054667"/>
            <a:ext cx="7406640" cy="1403032"/>
            <a:chOff x="0" y="0"/>
            <a:chExt cx="9875520" cy="18707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03020" y="3004661"/>
            <a:ext cx="7406640" cy="1453039"/>
            <a:chOff x="0" y="0"/>
            <a:chExt cx="9875520" cy="19373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Skincare accounts for 36,906 units sold vs. 24,324 for Makeup — roughly 60% of total volume.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38360" y="2263140"/>
            <a:ext cx="8092440" cy="2331720"/>
            <a:chOff x="0" y="0"/>
            <a:chExt cx="10789920" cy="3108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81260" y="2468880"/>
            <a:ext cx="7406640" cy="685800"/>
            <a:chOff x="0" y="0"/>
            <a:chExt cx="987552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81260" y="2433161"/>
            <a:ext cx="7406640" cy="721519"/>
            <a:chOff x="0" y="0"/>
            <a:chExt cx="9875520" cy="9620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81260" y="2397442"/>
            <a:ext cx="7406640" cy="757238"/>
            <a:chOff x="0" y="0"/>
            <a:chExt cx="9875520" cy="1009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81260" y="2361724"/>
            <a:ext cx="7406640" cy="792956"/>
            <a:chOff x="0" y="0"/>
            <a:chExt cx="9875520" cy="10572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Higher price tracks higher ratings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81260" y="3154680"/>
            <a:ext cx="7406640" cy="1303020"/>
            <a:chOff x="0" y="0"/>
            <a:chExt cx="987552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81260" y="3104674"/>
            <a:ext cx="7406640" cy="1353026"/>
            <a:chOff x="0" y="0"/>
            <a:chExt cx="9875520" cy="18040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81260" y="3054667"/>
            <a:ext cx="7406640" cy="1403032"/>
            <a:chOff x="0" y="0"/>
            <a:chExt cx="9875520" cy="18707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081260" y="3004661"/>
            <a:ext cx="7406640" cy="1453039"/>
            <a:chOff x="0" y="0"/>
            <a:chExt cx="9875520" cy="19373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price-vs-rating trend rises steadily from ~4.0 at lower price points to ~4.9 for premium items like Serum and Mascara.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" y="4937760"/>
            <a:ext cx="8092440" cy="2331720"/>
            <a:chOff x="0" y="0"/>
            <a:chExt cx="10789920" cy="3108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03020" y="5143500"/>
            <a:ext cx="7406640" cy="685800"/>
            <a:chOff x="0" y="0"/>
            <a:chExt cx="987552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03020" y="5107781"/>
            <a:ext cx="7406640" cy="721519"/>
            <a:chOff x="0" y="0"/>
            <a:chExt cx="9875520" cy="9620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03020" y="5072062"/>
            <a:ext cx="7406640" cy="757238"/>
            <a:chOff x="0" y="0"/>
            <a:chExt cx="9875520" cy="10096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03020" y="5036344"/>
            <a:ext cx="7406640" cy="792956"/>
            <a:chOff x="0" y="0"/>
            <a:chExt cx="9875520" cy="10572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Brand sales are tightly clustered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03020" y="5829300"/>
            <a:ext cx="7406640" cy="1303020"/>
            <a:chOff x="0" y="0"/>
            <a:chExt cx="9875520" cy="1737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" y="5779294"/>
            <a:ext cx="7406640" cy="1353026"/>
            <a:chOff x="0" y="0"/>
            <a:chExt cx="9875520" cy="180403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03020" y="5729288"/>
            <a:ext cx="7406640" cy="1403032"/>
            <a:chOff x="0" y="0"/>
            <a:chExt cx="9875520" cy="18707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03020" y="5679281"/>
            <a:ext cx="7406640" cy="1453039"/>
            <a:chOff x="0" y="0"/>
            <a:chExt cx="9875520" cy="193738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10 brands sell within a narrow 5,940–6,306 unit range — no single brand dominates the market.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738360" y="4937760"/>
            <a:ext cx="8092440" cy="2331720"/>
            <a:chOff x="0" y="0"/>
            <a:chExt cx="10789920" cy="31089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81260" y="5143500"/>
            <a:ext cx="7406640" cy="685800"/>
            <a:chOff x="0" y="0"/>
            <a:chExt cx="9875520" cy="914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81260" y="5107781"/>
            <a:ext cx="7406640" cy="721519"/>
            <a:chOff x="0" y="0"/>
            <a:chExt cx="9875520" cy="9620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081260" y="5072062"/>
            <a:ext cx="7406640" cy="757238"/>
            <a:chOff x="0" y="0"/>
            <a:chExt cx="9875520" cy="10096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081260" y="5036344"/>
            <a:ext cx="7406640" cy="792956"/>
            <a:chOff x="0" y="0"/>
            <a:chExt cx="9875520" cy="10572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Wide brand price gap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081260" y="5829300"/>
            <a:ext cx="7406640" cy="1303020"/>
            <a:chOff x="0" y="0"/>
            <a:chExt cx="9875520" cy="1737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81260" y="5779294"/>
            <a:ext cx="7406640" cy="1353026"/>
            <a:chOff x="0" y="0"/>
            <a:chExt cx="9875520" cy="180403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081260" y="5729288"/>
            <a:ext cx="7406640" cy="1403032"/>
            <a:chOff x="0" y="0"/>
            <a:chExt cx="9875520" cy="187071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081260" y="5679281"/>
            <a:ext cx="7406640" cy="1453039"/>
            <a:chOff x="0" y="0"/>
            <a:chExt cx="9875520" cy="193738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price by brand spans from ₹226.5 (L'Oreal) to ₹901.5 (Colorbar) — a 4x difference in positioning.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0120" y="7612380"/>
            <a:ext cx="8092440" cy="2331720"/>
            <a:chOff x="0" y="0"/>
            <a:chExt cx="10789920" cy="31089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03020" y="7818120"/>
            <a:ext cx="7406640" cy="685800"/>
            <a:chOff x="0" y="0"/>
            <a:chExt cx="9875520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03020" y="7782401"/>
            <a:ext cx="7406640" cy="721519"/>
            <a:chOff x="0" y="0"/>
            <a:chExt cx="9875520" cy="96202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03020" y="7746682"/>
            <a:ext cx="7406640" cy="757238"/>
            <a:chOff x="0" y="0"/>
            <a:chExt cx="9875520" cy="10096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3020" y="7710964"/>
            <a:ext cx="7406640" cy="792956"/>
            <a:chOff x="0" y="0"/>
            <a:chExt cx="9875520" cy="105727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Consistently high satisfaction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3020" y="8503920"/>
            <a:ext cx="7406640" cy="1303020"/>
            <a:chOff x="0" y="0"/>
            <a:chExt cx="9875520" cy="1737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03020" y="8453914"/>
            <a:ext cx="7406640" cy="1353026"/>
            <a:chOff x="0" y="0"/>
            <a:chExt cx="9875520" cy="180403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03020" y="8403907"/>
            <a:ext cx="7406640" cy="1403032"/>
            <a:chOff x="0" y="0"/>
            <a:chExt cx="9875520" cy="187071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03020" y="8353901"/>
            <a:ext cx="7406640" cy="1453039"/>
            <a:chOff x="0" y="0"/>
            <a:chExt cx="9875520" cy="193738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average rating sits at 4.45/5, with no products rated below 3.5.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738360" y="7612380"/>
            <a:ext cx="8092440" cy="2331720"/>
            <a:chOff x="0" y="0"/>
            <a:chExt cx="10789920" cy="3108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7899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2962656"/>
                  </a:lnTo>
                  <a:cubicBezTo>
                    <a:pt x="10789920" y="3043428"/>
                    <a:pt x="10724388" y="3108960"/>
                    <a:pt x="1064361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6D2E46">
                <a:alpha val="784"/>
              </a:srgbClr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081260" y="7818120"/>
            <a:ext cx="7406640" cy="685800"/>
            <a:chOff x="0" y="0"/>
            <a:chExt cx="9875520" cy="9144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875520" cy="914400"/>
            </a:xfrm>
            <a:custGeom>
              <a:avLst/>
              <a:gdLst/>
              <a:ahLst/>
              <a:cxnLst/>
              <a:rect r="r" b="b" t="t" l="l"/>
              <a:pathLst>
                <a:path h="9144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91" r="0" b="-160293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081260" y="7782401"/>
            <a:ext cx="7406640" cy="721519"/>
            <a:chOff x="0" y="0"/>
            <a:chExt cx="9875520" cy="96202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875520" cy="962025"/>
            </a:xfrm>
            <a:custGeom>
              <a:avLst/>
              <a:gdLst/>
              <a:ahLst/>
              <a:cxnLst/>
              <a:rect r="r" b="b" t="t" l="l"/>
              <a:pathLst>
                <a:path h="96202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881" r="0" b="-149882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081260" y="7746682"/>
            <a:ext cx="7406640" cy="757238"/>
            <a:chOff x="0" y="0"/>
            <a:chExt cx="9875520" cy="100965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875520" cy="1009650"/>
            </a:xfrm>
            <a:custGeom>
              <a:avLst/>
              <a:gdLst/>
              <a:ahLst/>
              <a:cxnLst/>
              <a:rect r="r" b="b" t="t" l="l"/>
              <a:pathLst>
                <a:path h="100965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452" r="0" b="-140454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81260" y="7710964"/>
            <a:ext cx="7406640" cy="792956"/>
            <a:chOff x="0" y="0"/>
            <a:chExt cx="9875520" cy="105727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875520" cy="1057276"/>
            </a:xfrm>
            <a:custGeom>
              <a:avLst/>
              <a:gdLst/>
              <a:ahLst/>
              <a:cxnLst/>
              <a:rect r="r" b="b" t="t" l="l"/>
              <a:pathLst>
                <a:path h="105727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57276"/>
                  </a:lnTo>
                  <a:lnTo>
                    <a:pt x="0" y="10572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2000" r="0" b="-13200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987552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Skin type demand is balanced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081260" y="8503920"/>
            <a:ext cx="7406640" cy="1303020"/>
            <a:chOff x="0" y="0"/>
            <a:chExt cx="9875520" cy="17373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8755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79" r="0" b="-6068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081260" y="8453914"/>
            <a:ext cx="7406640" cy="1353026"/>
            <a:chOff x="0" y="0"/>
            <a:chExt cx="9875520" cy="180403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875520" cy="1804035"/>
            </a:xfrm>
            <a:custGeom>
              <a:avLst/>
              <a:gdLst/>
              <a:ahLst/>
              <a:cxnLst/>
              <a:rect r="r" b="b" t="t" l="l"/>
              <a:pathLst>
                <a:path h="180403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04035"/>
                  </a:lnTo>
                  <a:lnTo>
                    <a:pt x="0" y="1804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9" r="0" b="-56589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081260" y="8403907"/>
            <a:ext cx="7406640" cy="1403032"/>
            <a:chOff x="0" y="0"/>
            <a:chExt cx="9875520" cy="187071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875520" cy="1870710"/>
            </a:xfrm>
            <a:custGeom>
              <a:avLst/>
              <a:gdLst/>
              <a:ahLst/>
              <a:cxnLst/>
              <a:rect r="r" b="b" t="t" l="l"/>
              <a:pathLst>
                <a:path h="187071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70710"/>
                  </a:lnTo>
                  <a:lnTo>
                    <a:pt x="0" y="18707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790" r="0" b="-5279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0081260" y="8353901"/>
            <a:ext cx="7406640" cy="1453039"/>
            <a:chOff x="0" y="0"/>
            <a:chExt cx="9875520" cy="1937385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875520" cy="1937384"/>
            </a:xfrm>
            <a:custGeom>
              <a:avLst/>
              <a:gdLst/>
              <a:ahLst/>
              <a:cxnLst/>
              <a:rect r="r" b="b" t="t" l="l"/>
              <a:pathLst>
                <a:path h="193738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937384"/>
                  </a:lnTo>
                  <a:lnTo>
                    <a:pt x="0" y="19373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321" r="0" b="-4932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66675"/>
              <a:ext cx="9875520" cy="200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Combination, Dry, Normal, Oily and Sensitive skin types each represent an equal ~20% share of preference.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9154" y="-89154"/>
            <a:ext cx="18466308" cy="4035933"/>
            <a:chOff x="0" y="0"/>
            <a:chExt cx="24621744" cy="53812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21744" cy="5381244"/>
            </a:xfrm>
            <a:custGeom>
              <a:avLst/>
              <a:gdLst/>
              <a:ahLst/>
              <a:cxnLst/>
              <a:rect r="r" b="b" t="t" l="l"/>
              <a:pathLst>
                <a:path h="5381244" w="24621744">
                  <a:moveTo>
                    <a:pt x="0" y="0"/>
                  </a:moveTo>
                  <a:lnTo>
                    <a:pt x="24621744" y="0"/>
                  </a:lnTo>
                  <a:lnTo>
                    <a:pt x="24621744" y="5381244"/>
                  </a:lnTo>
                  <a:lnTo>
                    <a:pt x="0" y="5381244"/>
                  </a:lnTo>
                  <a:close/>
                </a:path>
              </a:pathLst>
            </a:custGeom>
            <a:solidFill>
              <a:srgbClr val="8C5B6B"/>
            </a:solidFill>
            <a:ln w="54864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58887" y="2290763"/>
            <a:ext cx="1537022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7"/>
              </a:lnSpc>
            </a:pPr>
            <a:r>
              <a:rPr lang="en-US" sz="83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EXPERIENCE FITVIT TODAY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89154" y="3768471"/>
            <a:ext cx="9322308" cy="4035933"/>
            <a:chOff x="0" y="0"/>
            <a:chExt cx="12429744" cy="5381244"/>
          </a:xfrm>
        </p:grpSpPr>
        <p:sp>
          <p:nvSpPr>
            <p:cNvPr name="Freeform 8" id="8">
              <a:hlinkClick r:id="rId4" tooltip="https://drive.google.com/file/d/1ic8DEOR_zEq-BlWinu9QtiAzFPPebEaj/view?usp=drivesdk"/>
            </p:cNvPr>
            <p:cNvSpPr/>
            <p:nvPr/>
          </p:nvSpPr>
          <p:spPr>
            <a:xfrm flipH="false" flipV="false" rot="0">
              <a:off x="0" y="0"/>
              <a:ext cx="12429744" cy="5381244"/>
            </a:xfrm>
            <a:custGeom>
              <a:avLst/>
              <a:gdLst/>
              <a:ahLst/>
              <a:cxnLst/>
              <a:rect r="r" b="b" t="t" l="l"/>
              <a:pathLst>
                <a:path h="5381244" w="12429744">
                  <a:moveTo>
                    <a:pt x="0" y="0"/>
                  </a:moveTo>
                  <a:lnTo>
                    <a:pt x="12429744" y="0"/>
                  </a:lnTo>
                  <a:lnTo>
                    <a:pt x="12429744" y="5381244"/>
                  </a:lnTo>
                  <a:lnTo>
                    <a:pt x="0" y="5381244"/>
                  </a:lnTo>
                  <a:close/>
                </a:path>
              </a:pathLst>
            </a:custGeom>
            <a:solidFill>
              <a:srgbClr val="E0E5EC"/>
            </a:solidFill>
            <a:ln w="54864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5550694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6" r="0" b="-113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8712" y="5487591"/>
            <a:ext cx="1886121" cy="43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LIVE DEMO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54846" y="3768471"/>
            <a:ext cx="9322308" cy="4035933"/>
            <a:chOff x="0" y="0"/>
            <a:chExt cx="12429744" cy="53812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29744" cy="5381244"/>
            </a:xfrm>
            <a:custGeom>
              <a:avLst/>
              <a:gdLst/>
              <a:ahLst/>
              <a:cxnLst/>
              <a:rect r="r" b="b" t="t" l="l"/>
              <a:pathLst>
                <a:path h="5381244" w="12429744">
                  <a:moveTo>
                    <a:pt x="0" y="0"/>
                  </a:moveTo>
                  <a:lnTo>
                    <a:pt x="12429744" y="0"/>
                  </a:lnTo>
                  <a:lnTo>
                    <a:pt x="12429744" y="5381244"/>
                  </a:lnTo>
                  <a:lnTo>
                    <a:pt x="0" y="5381244"/>
                  </a:lnTo>
                  <a:close/>
                </a:path>
              </a:pathLst>
            </a:custGeom>
            <a:solidFill>
              <a:srgbClr val="E0E5EC"/>
            </a:solidFill>
            <a:ln w="54864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715500" y="5307806"/>
            <a:ext cx="332137" cy="342900"/>
            <a:chOff x="0" y="0"/>
            <a:chExt cx="442849" cy="4572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42849" cy="457200"/>
            </a:xfrm>
            <a:custGeom>
              <a:avLst/>
              <a:gdLst/>
              <a:ahLst/>
              <a:cxnLst/>
              <a:rect r="r" b="b" t="t" l="l"/>
              <a:pathLst>
                <a:path h="457200" w="442849">
                  <a:moveTo>
                    <a:pt x="0" y="0"/>
                  </a:moveTo>
                  <a:lnTo>
                    <a:pt x="442849" y="0"/>
                  </a:lnTo>
                  <a:lnTo>
                    <a:pt x="44284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83" r="0" b="-68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61997" y="5244703"/>
            <a:ext cx="2229355" cy="43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REPOSITORY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5890022"/>
            <a:ext cx="8572500" cy="83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https://github.com/vidhgupta4-sketch/Cosmetics-Tableau-Project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89154" y="7626096"/>
            <a:ext cx="18466308" cy="2750058"/>
            <a:chOff x="0" y="0"/>
            <a:chExt cx="24621744" cy="36667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21744" cy="3666744"/>
            </a:xfrm>
            <a:custGeom>
              <a:avLst/>
              <a:gdLst/>
              <a:ahLst/>
              <a:cxnLst/>
              <a:rect r="r" b="b" t="t" l="l"/>
              <a:pathLst>
                <a:path h="3666744" w="24621744">
                  <a:moveTo>
                    <a:pt x="0" y="0"/>
                  </a:moveTo>
                  <a:lnTo>
                    <a:pt x="24621744" y="0"/>
                  </a:lnTo>
                  <a:lnTo>
                    <a:pt x="24621744" y="3666744"/>
                  </a:lnTo>
                  <a:lnTo>
                    <a:pt x="0" y="3666744"/>
                  </a:lnTo>
                  <a:close/>
                </a:path>
              </a:pathLst>
            </a:custGeom>
            <a:solidFill>
              <a:srgbClr val="6D2E46"/>
            </a:solidFill>
            <a:ln w="54864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3158709" y="8815978"/>
            <a:ext cx="11970582" cy="83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900" spc="6">
                <a:solidFill>
                  <a:srgbClr val="E0E5EC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4236" y="6058510"/>
            <a:ext cx="7199062" cy="78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https://drive.google.com/file/d/1ic8DEOR_zEq-BlWinu9QtiAzFPPebEaj/view?usp=drivesdk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DAHPcyjA5-8</dc:identifier>
  <dcterms:modified xsi:type="dcterms:W3CDTF">2011-08-01T06:04:30Z</dcterms:modified>
  <cp:revision>1</cp:revision>
  <dc:title>DOC-20260715-WA0046..pptx</dc:title>
</cp:coreProperties>
</file>